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sari-raslan.github.io/universal-arranger-os/monitor/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sari-raslan.github.io/universal-arranger-os/monitor/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consistent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20040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ptos"/>
              </a:defRPr>
            </a:pPr>
            <a:r>
              <a:t>01  Deckblatt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9052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8FAFC"/>
                </a:solidFill>
                <a:latin typeface="Aptos"/>
              </a:defRPr>
            </a:pPr>
            <a:r>
              <a:t>UAOS / AE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6583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C9D4E5"/>
                </a:solidFill>
                <a:latin typeface="Aptos"/>
              </a:defRPr>
            </a:pPr>
            <a:r>
              <a:t>Businessplan und Projektübersicht zur Vorbereitung der Selbstständigkeit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12848"/>
            <a:ext cx="6309360" cy="804672"/>
          </a:xfrm>
          <a:prstGeom prst="roundRect">
            <a:avLst/>
          </a:prstGeom>
          <a:solidFill>
            <a:srgbClr val="182338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322576"/>
            <a:ext cx="59801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ACC15"/>
                </a:solidFill>
                <a:latin typeface="Aptos"/>
              </a:defRPr>
            </a:pPr>
            <a:r>
              <a:t>Finanzierung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596896"/>
            <a:ext cx="598017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F8FAFC"/>
                </a:solidFill>
                <a:latin typeface="Aptos"/>
              </a:defRPr>
            </a:pPr>
            <a:r>
              <a:t>Der maximale Finanzierungsbedarf wird mit 4.700 € angesetzt. Die tatsächlichen Anschaffungen können nach Angebot, Verfügbarkeit und Abstimmung mit dem Jobcenter angepasst werden.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154680"/>
            <a:ext cx="6309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  <a:latin typeface="Aptos"/>
              </a:defRPr>
            </a:pPr>
            <a:r>
              <a:t>https://sari-raslan.github.io/universal-arranger-os/monitor/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1417320"/>
            <a:ext cx="1737360" cy="960120"/>
          </a:xfrm>
          <a:prstGeom prst="roundRect">
            <a:avLst/>
          </a:prstGeom>
          <a:solidFill>
            <a:srgbClr val="182338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79792" y="1527048"/>
            <a:ext cx="14081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ACC15"/>
                </a:solidFill>
                <a:latin typeface="Aptos"/>
              </a:defRPr>
            </a:pPr>
            <a:r>
              <a:t>Gesamt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79792" y="1801368"/>
            <a:ext cx="1408176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Aptos"/>
              </a:defRPr>
            </a:pPr>
            <a:r>
              <a:t>4.700 €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26880" y="1417320"/>
            <a:ext cx="1737360" cy="960120"/>
          </a:xfrm>
          <a:prstGeom prst="roundRect">
            <a:avLst/>
          </a:prstGeom>
          <a:solidFill>
            <a:srgbClr val="182338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91472" y="1527048"/>
            <a:ext cx="14081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ACC15"/>
                </a:solidFill>
                <a:latin typeface="Aptos"/>
              </a:defRPr>
            </a:pPr>
            <a:r>
              <a:t>Phase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91472" y="1801368"/>
            <a:ext cx="1408176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Aptos"/>
              </a:defRPr>
            </a:pPr>
            <a:r>
              <a:t>Gründungsphase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0" y="2743200"/>
            <a:ext cx="1737360" cy="960120"/>
          </a:xfrm>
          <a:prstGeom prst="roundRect">
            <a:avLst/>
          </a:prstGeom>
          <a:solidFill>
            <a:srgbClr val="182338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79792" y="2852928"/>
            <a:ext cx="14081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ACC15"/>
                </a:solidFill>
                <a:latin typeface="Aptos"/>
              </a:defRPr>
            </a:pPr>
            <a:r>
              <a:t>Ertrag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79792" y="3127248"/>
            <a:ext cx="1408176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Aptos"/>
              </a:defRPr>
            </a:pPr>
            <a:r>
              <a:t>konservativ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26880" y="2743200"/>
            <a:ext cx="1737360" cy="960120"/>
          </a:xfrm>
          <a:prstGeom prst="roundRect">
            <a:avLst/>
          </a:prstGeom>
          <a:solidFill>
            <a:srgbClr val="182338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91472" y="2852928"/>
            <a:ext cx="14081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ACC15"/>
                </a:solidFill>
                <a:latin typeface="Aptos"/>
              </a:defRPr>
            </a:pPr>
            <a:r>
              <a:t>Monitor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91472" y="3127248"/>
            <a:ext cx="1408176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Aptos"/>
              </a:defRPr>
            </a:pPr>
            <a:r>
              <a:t>öffentlich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6291072"/>
            <a:ext cx="2423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C9D4E5"/>
                </a:solidFill>
                <a:latin typeface="Aptos"/>
              </a:defRPr>
            </a:pPr>
            <a:r>
              <a:t>UAOS / AE Platform</a:t>
            </a:r>
          </a:p>
        </p:txBody>
      </p:sp>
      <p:sp>
        <p:nvSpPr>
          <p:cNvPr id="23" name="Rounded Rectangle 22">
            <a:hlinkClick r:id="rId3"/>
          </p:cNvPr>
          <p:cNvSpPr/>
          <p:nvPr/>
        </p:nvSpPr>
        <p:spPr>
          <a:xfrm>
            <a:off x="777240" y="4892040"/>
            <a:ext cx="3749039" cy="502920"/>
          </a:xfrm>
          <a:prstGeom prst="round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B1220"/>
                </a:solidFill>
                <a:latin typeface="Aptos"/>
              </a:defRPr>
            </a:pPr>
            <a:r>
              <a:t>Projektmonitor öffnen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504688"/>
            <a:ext cx="65836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38BDF8"/>
                </a:solidFill>
                <a:latin typeface="Aptos"/>
                <a:hlinkClick r:id="rId3"/>
              </a:rPr>
              <a:t>https://sari-raslan.github.io/universal-arranger-os/monitor/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consistent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20040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ptos"/>
              </a:defRPr>
            </a:pPr>
            <a:r>
              <a:t>02  Zusammenfassung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9052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F8FAFC"/>
                </a:solidFill>
                <a:latin typeface="Aptos"/>
              </a:defRPr>
            </a:pPr>
            <a:r>
              <a:t>Konsistente Finanzplanung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10789920" cy="841248"/>
          </a:xfrm>
          <a:prstGeom prst="roundRect">
            <a:avLst/>
          </a:prstGeom>
          <a:solidFill>
            <a:srgbClr val="182338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618488"/>
            <a:ext cx="104607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  <a:latin typeface="Aptos"/>
              </a:defRPr>
            </a:pPr>
            <a:r>
              <a:t>Erläuterung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892807"/>
            <a:ext cx="1046073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F8FAFC"/>
                </a:solidFill>
                <a:latin typeface="Aptos"/>
              </a:defRPr>
            </a:pPr>
            <a:r>
              <a:t>Diese finale Fassung vereinheitlicht Businessplan und Präsentation. In beiden Dateien steht derselbe maximale Finanzierungsbedarf von 4.700 € und dieselbe Einzelaufstellung.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496312"/>
            <a:ext cx="10789920" cy="841248"/>
          </a:xfrm>
          <a:prstGeom prst="roundRect">
            <a:avLst/>
          </a:prstGeom>
          <a:solidFill>
            <a:srgbClr val="182338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2606040"/>
            <a:ext cx="104607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  <a:latin typeface="Aptos"/>
              </a:defRPr>
            </a:pPr>
            <a:r>
              <a:t>Erläuterung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880360"/>
            <a:ext cx="1046073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F8FAFC"/>
                </a:solidFill>
                <a:latin typeface="Aptos"/>
              </a:defRPr>
            </a:pPr>
            <a:r>
              <a:t>Das Projekt befindet sich in der Gründungsphase. Es gibt noch keine Umsatzgarantie; die Planung bleibt konservativ und unverbindlich.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291072"/>
            <a:ext cx="2423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C9D4E5"/>
                </a:solidFill>
                <a:latin typeface="Aptos"/>
              </a:defRPr>
            </a:pPr>
            <a:r>
              <a:t>UAOS / AE Platform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consistent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20040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ptos"/>
              </a:defRPr>
            </a:pPr>
            <a:r>
              <a:t>03  Einfache Erklärung des Projekts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9052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F8FAFC"/>
                </a:solidFill>
                <a:latin typeface="Aptos"/>
              </a:defRPr>
            </a:pPr>
            <a:r>
              <a:t>Verständliche Einordnung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10835640" cy="438912"/>
          </a:xfrm>
          <a:prstGeom prst="roundRect">
            <a:avLst/>
          </a:prstGeom>
          <a:solidFill>
            <a:srgbClr val="182338"/>
          </a:solidFill>
          <a:ln w="635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581912"/>
            <a:ext cx="8961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F8FAFC"/>
                </a:solidFill>
                <a:latin typeface="Aptos"/>
              </a:defRPr>
            </a:pPr>
            <a:r>
              <a:t>Arrangement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29800" y="1581912"/>
            <a:ext cx="15727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50" b="1">
                <a:solidFill>
                  <a:srgbClr val="FACC15"/>
                </a:solidFill>
                <a:latin typeface="Aptos"/>
              </a:defRPr>
            </a:pPr>
            <a:r>
              <a:t>Musikalische Struktur eines Songs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984248"/>
            <a:ext cx="10835640" cy="438912"/>
          </a:xfrm>
          <a:prstGeom prst="roundRect">
            <a:avLst/>
          </a:prstGeom>
          <a:solidFill>
            <a:srgbClr val="182338"/>
          </a:solidFill>
          <a:ln w="635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057400"/>
            <a:ext cx="8961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F8FAFC"/>
                </a:solidFill>
                <a:latin typeface="Aptos"/>
              </a:defRPr>
            </a:pPr>
            <a:r>
              <a:t>MIDI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29800" y="2057400"/>
            <a:ext cx="15727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50" b="1">
                <a:solidFill>
                  <a:srgbClr val="FACC15"/>
                </a:solidFill>
                <a:latin typeface="Aptos"/>
              </a:defRPr>
            </a:pPr>
            <a:r>
              <a:t>Digitale Noten- und Steuerinformation, kein Audio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459736"/>
            <a:ext cx="10835640" cy="438912"/>
          </a:xfrm>
          <a:prstGeom prst="roundRect">
            <a:avLst/>
          </a:prstGeom>
          <a:solidFill>
            <a:srgbClr val="182338"/>
          </a:solidFill>
          <a:ln w="635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2532888"/>
            <a:ext cx="8961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F8FAFC"/>
                </a:solidFill>
                <a:latin typeface="Aptos"/>
              </a:defRPr>
            </a:pPr>
            <a:r>
              <a:t>Bibliothek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29800" y="2532888"/>
            <a:ext cx="15727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50" b="1">
                <a:solidFill>
                  <a:srgbClr val="FACC15"/>
                </a:solidFill>
                <a:latin typeface="Aptos"/>
              </a:defRPr>
            </a:pPr>
            <a:r>
              <a:t>Geordnete Sammlung von Klang- und Instrumenteninformationen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935224"/>
            <a:ext cx="10835640" cy="438912"/>
          </a:xfrm>
          <a:prstGeom prst="roundRect">
            <a:avLst/>
          </a:prstGeom>
          <a:solidFill>
            <a:srgbClr val="22304A"/>
          </a:solidFill>
          <a:ln w="635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008376"/>
            <a:ext cx="8961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8FAFC"/>
                </a:solidFill>
                <a:latin typeface="Aptos"/>
              </a:defRPr>
            </a:pPr>
            <a:r>
              <a:t>Projektmonitor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29800" y="3008376"/>
            <a:ext cx="15727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50" b="1">
                <a:solidFill>
                  <a:srgbClr val="FACC15"/>
                </a:solidFill>
                <a:latin typeface="Aptos"/>
              </a:defRPr>
            </a:pPr>
            <a:r>
              <a:t>Öffentliche Statusseite zur Nachvollziehbarkeit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6291072"/>
            <a:ext cx="2423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C9D4E5"/>
                </a:solidFill>
                <a:latin typeface="Aptos"/>
              </a:defRPr>
            </a:pPr>
            <a:r>
              <a:t>UAOS / AE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consistent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20040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ptos"/>
              </a:defRPr>
            </a:pPr>
            <a:r>
              <a:t>04  Zielgruppen und Kundensegmente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9052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F8FAFC"/>
                </a:solidFill>
                <a:latin typeface="Aptos"/>
              </a:defRPr>
            </a:pPr>
            <a:r>
              <a:t>Kundenbasis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10789920" cy="1078992"/>
          </a:xfrm>
          <a:prstGeom prst="roundRect">
            <a:avLst/>
          </a:prstGeom>
          <a:solidFill>
            <a:srgbClr val="182338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618488"/>
            <a:ext cx="104607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  <a:latin typeface="Aptos"/>
              </a:defRPr>
            </a:pPr>
            <a:r>
              <a:t>Erläuterung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892807"/>
            <a:ext cx="1046073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F8FAFC"/>
                </a:solidFill>
                <a:latin typeface="Aptos"/>
              </a:defRPr>
            </a:pPr>
            <a:r>
              <a:t>Zielgruppen sind Sängerinnen und Sänger, Musiker und Heimstudio-Nutzer, semiprofessionelle Produzenten, professionelle Arrangeure und Musikproduzenten sowie Musiker im orientalischen und arabischen Musikbereich.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291072"/>
            <a:ext cx="2423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C9D4E5"/>
                </a:solidFill>
                <a:latin typeface="Aptos"/>
              </a:defRPr>
            </a:pPr>
            <a:r>
              <a:t>UAOS / AE Platform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consistent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20040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ptos"/>
              </a:defRPr>
            </a:pPr>
            <a:r>
              <a:t>05  Kundengewinnung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9052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F8FAFC"/>
                </a:solidFill>
                <a:latin typeface="Aptos"/>
              </a:defRPr>
            </a:pPr>
            <a:r>
              <a:t>Marktzugang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10789920" cy="1078992"/>
          </a:xfrm>
          <a:prstGeom prst="roundRect">
            <a:avLst/>
          </a:prstGeom>
          <a:solidFill>
            <a:srgbClr val="182338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618488"/>
            <a:ext cx="104607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  <a:latin typeface="Aptos"/>
              </a:defRPr>
            </a:pPr>
            <a:r>
              <a:t>Erläuterung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892807"/>
            <a:ext cx="1046073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F8FAFC"/>
                </a:solidFill>
                <a:latin typeface="Aptos"/>
              </a:defRPr>
            </a:pPr>
            <a:r>
              <a:t>Kunden sollen das Angebot über Musikmessen, Fachveranstaltungen, Konzerte, Flyer, Direktkontakte, Musiker-Communities, persönliche Netzwerke und den öffentlichen Projektmonitor kennenlernen. Präsentation und Monitor werden als Nachweis des Projektstands genutzt.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291072"/>
            <a:ext cx="2423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C9D4E5"/>
                </a:solidFill>
                <a:latin typeface="Aptos"/>
              </a:defRPr>
            </a:pPr>
            <a:r>
              <a:t>UAOS / AE Platform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consistent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20040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ptos"/>
              </a:defRPr>
            </a:pPr>
            <a:r>
              <a:t>06  Finanzierungsbedarf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9052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F8FAFC"/>
                </a:solidFill>
                <a:latin typeface="Aptos"/>
              </a:defRPr>
            </a:pPr>
            <a:r>
              <a:t>Maximaler Finanzierungsbedarf 4.700 €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10835640" cy="356616"/>
          </a:xfrm>
          <a:prstGeom prst="roundRect">
            <a:avLst/>
          </a:prstGeom>
          <a:solidFill>
            <a:srgbClr val="182338"/>
          </a:solidFill>
          <a:ln w="635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581912"/>
            <a:ext cx="8961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F8FAFC"/>
                </a:solidFill>
                <a:latin typeface="Aptos"/>
              </a:defRPr>
            </a:pPr>
            <a:r>
              <a:t>Laptop / Workstation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29800" y="1581912"/>
            <a:ext cx="15727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50" b="1">
                <a:solidFill>
                  <a:srgbClr val="FACC15"/>
                </a:solidFill>
                <a:latin typeface="Aptos"/>
              </a:defRPr>
            </a:pPr>
            <a:r>
              <a:t>2.400 €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901952"/>
            <a:ext cx="10835640" cy="356616"/>
          </a:xfrm>
          <a:prstGeom prst="roundRect">
            <a:avLst/>
          </a:prstGeom>
          <a:solidFill>
            <a:srgbClr val="182338"/>
          </a:solidFill>
          <a:ln w="635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975104"/>
            <a:ext cx="8961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F8FAFC"/>
                </a:solidFill>
                <a:latin typeface="Aptos"/>
              </a:defRPr>
            </a:pPr>
            <a:r>
              <a:t>Externer Monitor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29800" y="1975104"/>
            <a:ext cx="15727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50" b="1">
                <a:solidFill>
                  <a:srgbClr val="FACC15"/>
                </a:solidFill>
                <a:latin typeface="Aptos"/>
              </a:defRPr>
            </a:pPr>
            <a:r>
              <a:t>350 €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295144"/>
            <a:ext cx="10835640" cy="356616"/>
          </a:xfrm>
          <a:prstGeom prst="roundRect">
            <a:avLst/>
          </a:prstGeom>
          <a:solidFill>
            <a:srgbClr val="182338"/>
          </a:solidFill>
          <a:ln w="635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2368296"/>
            <a:ext cx="8961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F8FAFC"/>
                </a:solidFill>
                <a:latin typeface="Aptos"/>
              </a:defRPr>
            </a:pPr>
            <a:r>
              <a:t>Tastatur / Maus / Speicher / Zubehör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29800" y="2368296"/>
            <a:ext cx="15727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50" b="1">
                <a:solidFill>
                  <a:srgbClr val="FACC15"/>
                </a:solidFill>
                <a:latin typeface="Aptos"/>
              </a:defRPr>
            </a:pPr>
            <a:r>
              <a:t>350 €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688336"/>
            <a:ext cx="10835640" cy="356616"/>
          </a:xfrm>
          <a:prstGeom prst="roundRect">
            <a:avLst/>
          </a:prstGeom>
          <a:solidFill>
            <a:srgbClr val="182338"/>
          </a:solidFill>
          <a:ln w="635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2761488"/>
            <a:ext cx="8961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F8FAFC"/>
                </a:solidFill>
                <a:latin typeface="Aptos"/>
              </a:defRPr>
            </a:pPr>
            <a:r>
              <a:t>Software- / Entwicklungsreserve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29800" y="2761488"/>
            <a:ext cx="15727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50" b="1">
                <a:solidFill>
                  <a:srgbClr val="FACC15"/>
                </a:solidFill>
                <a:latin typeface="Aptos"/>
              </a:defRPr>
            </a:pPr>
            <a:r>
              <a:t>750 €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081528"/>
            <a:ext cx="10835640" cy="356616"/>
          </a:xfrm>
          <a:prstGeom prst="roundRect">
            <a:avLst/>
          </a:prstGeom>
          <a:solidFill>
            <a:srgbClr val="182338"/>
          </a:solidFill>
          <a:ln w="635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3154680"/>
            <a:ext cx="8961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F8FAFC"/>
                </a:solidFill>
                <a:latin typeface="Aptos"/>
              </a:defRPr>
            </a:pPr>
            <a:r>
              <a:t>Backup / Datensicherung / Cloud-Reserve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29800" y="3154680"/>
            <a:ext cx="15727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50" b="1">
                <a:solidFill>
                  <a:srgbClr val="FACC15"/>
                </a:solidFill>
                <a:latin typeface="Aptos"/>
              </a:defRPr>
            </a:pPr>
            <a:r>
              <a:t>250 €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474720"/>
            <a:ext cx="10835640" cy="356616"/>
          </a:xfrm>
          <a:prstGeom prst="roundRect">
            <a:avLst/>
          </a:prstGeom>
          <a:solidFill>
            <a:srgbClr val="182338"/>
          </a:solidFill>
          <a:ln w="635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" y="3547872"/>
            <a:ext cx="8961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F8FAFC"/>
                </a:solidFill>
                <a:latin typeface="Aptos"/>
              </a:defRPr>
            </a:pPr>
            <a:r>
              <a:t>Dokumentation / Präsentation / Verwaltung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29800" y="3547872"/>
            <a:ext cx="15727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50" b="1">
                <a:solidFill>
                  <a:srgbClr val="FACC15"/>
                </a:solidFill>
                <a:latin typeface="Aptos"/>
              </a:defRPr>
            </a:pPr>
            <a:r>
              <a:t>250 €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3867912"/>
            <a:ext cx="10835640" cy="356616"/>
          </a:xfrm>
          <a:prstGeom prst="roundRect">
            <a:avLst/>
          </a:prstGeom>
          <a:solidFill>
            <a:srgbClr val="182338"/>
          </a:solidFill>
          <a:ln w="635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" y="3941064"/>
            <a:ext cx="8961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69" b="0">
                <a:solidFill>
                  <a:srgbClr val="F8FAFC"/>
                </a:solidFill>
                <a:latin typeface="Aptos"/>
              </a:defRPr>
            </a:pPr>
            <a:r>
              <a:t>Werbematerial / Flyer / einfache Öffentlichkeitsarbeit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29800" y="3941064"/>
            <a:ext cx="15727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50" b="1">
                <a:solidFill>
                  <a:srgbClr val="FACC15"/>
                </a:solidFill>
                <a:latin typeface="Aptos"/>
              </a:defRPr>
            </a:pPr>
            <a:r>
              <a:t>250 €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261104"/>
            <a:ext cx="10835640" cy="356616"/>
          </a:xfrm>
          <a:prstGeom prst="roundRect">
            <a:avLst/>
          </a:prstGeom>
          <a:solidFill>
            <a:srgbClr val="182338"/>
          </a:solidFill>
          <a:ln w="635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4334256"/>
            <a:ext cx="8961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69" b="0">
                <a:solidFill>
                  <a:srgbClr val="F8FAFC"/>
                </a:solidFill>
                <a:latin typeface="Aptos"/>
              </a:defRPr>
            </a:pPr>
            <a:r>
              <a:t>Reserve für unvorhergesehene technische Kosten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29800" y="4334256"/>
            <a:ext cx="15727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50" b="1">
                <a:solidFill>
                  <a:srgbClr val="FACC15"/>
                </a:solidFill>
                <a:latin typeface="Aptos"/>
              </a:defRPr>
            </a:pPr>
            <a:r>
              <a:t>100 €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4654296"/>
            <a:ext cx="10835640" cy="356616"/>
          </a:xfrm>
          <a:prstGeom prst="roundRect">
            <a:avLst/>
          </a:prstGeom>
          <a:solidFill>
            <a:srgbClr val="22304A"/>
          </a:solidFill>
          <a:ln w="635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4672" y="4727448"/>
            <a:ext cx="8961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8FAFC"/>
                </a:solidFill>
                <a:latin typeface="Aptos"/>
              </a:defRPr>
            </a:pPr>
            <a:r>
              <a:t>Gesamt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29800" y="4727448"/>
            <a:ext cx="15727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50" b="1">
                <a:solidFill>
                  <a:srgbClr val="FACC15"/>
                </a:solidFill>
                <a:latin typeface="Aptos"/>
              </a:defRPr>
            </a:pPr>
            <a:r>
              <a:t>4.700 €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6291072"/>
            <a:ext cx="2423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C9D4E5"/>
                </a:solidFill>
                <a:latin typeface="Aptos"/>
              </a:defRPr>
            </a:pPr>
            <a:r>
              <a:t>UAOS / AE Platform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consistent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20040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ptos"/>
              </a:defRPr>
            </a:pPr>
            <a:r>
              <a:t>07  Operative feste monatliche Kosten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9052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F8FAFC"/>
                </a:solidFill>
                <a:latin typeface="Aptos"/>
              </a:defRPr>
            </a:pPr>
            <a:r>
              <a:t>Systemkosten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10835640" cy="438912"/>
          </a:xfrm>
          <a:prstGeom prst="roundRect">
            <a:avLst/>
          </a:prstGeom>
          <a:solidFill>
            <a:srgbClr val="182338"/>
          </a:solidFill>
          <a:ln w="635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581912"/>
            <a:ext cx="8961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F8FAFC"/>
                </a:solidFill>
                <a:latin typeface="Aptos"/>
              </a:defRPr>
            </a:pPr>
            <a:r>
              <a:t>Software / Dienste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29800" y="1581912"/>
            <a:ext cx="15727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50" b="1">
                <a:solidFill>
                  <a:srgbClr val="FACC15"/>
                </a:solidFill>
                <a:latin typeface="Aptos"/>
              </a:defRPr>
            </a:pPr>
            <a:r>
              <a:t>30–80 €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984248"/>
            <a:ext cx="10835640" cy="438912"/>
          </a:xfrm>
          <a:prstGeom prst="roundRect">
            <a:avLst/>
          </a:prstGeom>
          <a:solidFill>
            <a:srgbClr val="182338"/>
          </a:solidFill>
          <a:ln w="635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057400"/>
            <a:ext cx="8961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F8FAFC"/>
                </a:solidFill>
                <a:latin typeface="Aptos"/>
              </a:defRPr>
            </a:pPr>
            <a:r>
              <a:t>Internet / Stromanteil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29800" y="2057400"/>
            <a:ext cx="15727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50" b="1">
                <a:solidFill>
                  <a:srgbClr val="FACC15"/>
                </a:solidFill>
                <a:latin typeface="Aptos"/>
              </a:defRPr>
            </a:pPr>
            <a:r>
              <a:t>20–50 €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459736"/>
            <a:ext cx="10835640" cy="438912"/>
          </a:xfrm>
          <a:prstGeom prst="roundRect">
            <a:avLst/>
          </a:prstGeom>
          <a:solidFill>
            <a:srgbClr val="182338"/>
          </a:solidFill>
          <a:ln w="635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2532888"/>
            <a:ext cx="8961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F8FAFC"/>
                </a:solidFill>
                <a:latin typeface="Aptos"/>
              </a:defRPr>
            </a:pPr>
            <a:r>
              <a:t>Backup / Speicher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29800" y="2532888"/>
            <a:ext cx="15727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50" b="1">
                <a:solidFill>
                  <a:srgbClr val="FACC15"/>
                </a:solidFill>
                <a:latin typeface="Aptos"/>
              </a:defRPr>
            </a:pPr>
            <a:r>
              <a:t>5–20 €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935224"/>
            <a:ext cx="10835640" cy="438912"/>
          </a:xfrm>
          <a:prstGeom prst="roundRect">
            <a:avLst/>
          </a:prstGeom>
          <a:solidFill>
            <a:srgbClr val="182338"/>
          </a:solidFill>
          <a:ln w="635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008376"/>
            <a:ext cx="8961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F8FAFC"/>
                </a:solidFill>
                <a:latin typeface="Aptos"/>
              </a:defRPr>
            </a:pPr>
            <a:r>
              <a:t>Buchhaltung / Verwaltung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29800" y="3008376"/>
            <a:ext cx="15727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50" b="1">
                <a:solidFill>
                  <a:srgbClr val="FACC15"/>
                </a:solidFill>
                <a:latin typeface="Aptos"/>
              </a:defRPr>
            </a:pPr>
            <a:r>
              <a:t>20–60 €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410712"/>
            <a:ext cx="10835640" cy="438912"/>
          </a:xfrm>
          <a:prstGeom prst="roundRect">
            <a:avLst/>
          </a:prstGeom>
          <a:solidFill>
            <a:srgbClr val="182338"/>
          </a:solidFill>
          <a:ln w="635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3483864"/>
            <a:ext cx="8961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F8FAFC"/>
                </a:solidFill>
                <a:latin typeface="Aptos"/>
              </a:defRPr>
            </a:pPr>
            <a:r>
              <a:t>Werbung / Flyer / Infomaterial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29800" y="3483864"/>
            <a:ext cx="15727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50" b="1">
                <a:solidFill>
                  <a:srgbClr val="FACC15"/>
                </a:solidFill>
                <a:latin typeface="Aptos"/>
              </a:defRPr>
            </a:pPr>
            <a:r>
              <a:t>20–80 €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886200"/>
            <a:ext cx="10835640" cy="438912"/>
          </a:xfrm>
          <a:prstGeom prst="roundRect">
            <a:avLst/>
          </a:prstGeom>
          <a:solidFill>
            <a:srgbClr val="182338"/>
          </a:solidFill>
          <a:ln w="635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" y="3959352"/>
            <a:ext cx="8961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F8FAFC"/>
                </a:solidFill>
                <a:latin typeface="Aptos"/>
              </a:defRPr>
            </a:pPr>
            <a:r>
              <a:t>Website / Monitor / Online-Nachweis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29800" y="3959352"/>
            <a:ext cx="15727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50" b="1">
                <a:solidFill>
                  <a:srgbClr val="FACC15"/>
                </a:solidFill>
                <a:latin typeface="Aptos"/>
              </a:defRPr>
            </a:pPr>
            <a:r>
              <a:t>0–30 €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4361688"/>
            <a:ext cx="10835640" cy="438912"/>
          </a:xfrm>
          <a:prstGeom prst="roundRect">
            <a:avLst/>
          </a:prstGeom>
          <a:solidFill>
            <a:srgbClr val="22304A"/>
          </a:solidFill>
          <a:ln w="635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" y="4434840"/>
            <a:ext cx="8961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8FAFC"/>
                </a:solidFill>
                <a:latin typeface="Aptos"/>
              </a:defRPr>
            </a:pPr>
            <a:r>
              <a:t>Operative feste Kosten gesamt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29800" y="4434840"/>
            <a:ext cx="15727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50" b="1">
                <a:solidFill>
                  <a:srgbClr val="FACC15"/>
                </a:solidFill>
                <a:latin typeface="Aptos"/>
              </a:defRPr>
            </a:pPr>
            <a:r>
              <a:t>95–320 € monatlich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6291072"/>
            <a:ext cx="2423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C9D4E5"/>
                </a:solidFill>
                <a:latin typeface="Aptos"/>
              </a:defRPr>
            </a:pPr>
            <a:r>
              <a:t>UAOS / AE Platform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consistent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20040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ptos"/>
              </a:defRPr>
            </a:pPr>
            <a:r>
              <a:t>08  Persönliche Pflicht- und Vorsorgekosten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9052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F8FAFC"/>
                </a:solidFill>
                <a:latin typeface="Aptos"/>
              </a:defRPr>
            </a:pPr>
            <a:r>
              <a:t>Vorsorge und Rücklagen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10835640" cy="438912"/>
          </a:xfrm>
          <a:prstGeom prst="roundRect">
            <a:avLst/>
          </a:prstGeom>
          <a:solidFill>
            <a:srgbClr val="182338"/>
          </a:solidFill>
          <a:ln w="635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581912"/>
            <a:ext cx="8961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F8FAFC"/>
                </a:solidFill>
                <a:latin typeface="Aptos"/>
              </a:defRPr>
            </a:pPr>
            <a:r>
              <a:t>Krankenversicherung / Pflegeversicherung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29800" y="1581912"/>
            <a:ext cx="15727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50" b="1">
                <a:solidFill>
                  <a:srgbClr val="FACC15"/>
                </a:solidFill>
                <a:latin typeface="Aptos"/>
              </a:defRPr>
            </a:pPr>
            <a:r>
              <a:t>ca. 270–350 €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984248"/>
            <a:ext cx="10835640" cy="438912"/>
          </a:xfrm>
          <a:prstGeom prst="roundRect">
            <a:avLst/>
          </a:prstGeom>
          <a:solidFill>
            <a:srgbClr val="182338"/>
          </a:solidFill>
          <a:ln w="635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057400"/>
            <a:ext cx="8961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F8FAFC"/>
                </a:solidFill>
                <a:latin typeface="Aptos"/>
              </a:defRPr>
            </a:pPr>
            <a:r>
              <a:t>Rentenbeitrag / Altersvorsorge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29800" y="2057400"/>
            <a:ext cx="15727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50" b="1">
                <a:solidFill>
                  <a:srgbClr val="FACC15"/>
                </a:solidFill>
                <a:latin typeface="Aptos"/>
              </a:defRPr>
            </a:pPr>
            <a:r>
              <a:t>ca. 112–200 €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459736"/>
            <a:ext cx="10835640" cy="438912"/>
          </a:xfrm>
          <a:prstGeom prst="roundRect">
            <a:avLst/>
          </a:prstGeom>
          <a:solidFill>
            <a:srgbClr val="182338"/>
          </a:solidFill>
          <a:ln w="635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2532888"/>
            <a:ext cx="8961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F8FAFC"/>
                </a:solidFill>
                <a:latin typeface="Aptos"/>
              </a:defRPr>
            </a:pPr>
            <a:r>
              <a:t>Steuer-Rücklage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29800" y="2532888"/>
            <a:ext cx="15727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50" b="1">
                <a:solidFill>
                  <a:srgbClr val="FACC15"/>
                </a:solidFill>
                <a:latin typeface="Aptos"/>
              </a:defRPr>
            </a:pPr>
            <a:r>
              <a:t>0–150 €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935224"/>
            <a:ext cx="10835640" cy="438912"/>
          </a:xfrm>
          <a:prstGeom prst="roundRect">
            <a:avLst/>
          </a:prstGeom>
          <a:solidFill>
            <a:srgbClr val="22304A"/>
          </a:solidFill>
          <a:ln w="635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008376"/>
            <a:ext cx="8961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8FAFC"/>
                </a:solidFill>
                <a:latin typeface="Aptos"/>
              </a:defRPr>
            </a:pPr>
            <a:r>
              <a:t>Persönliche Pflicht-/Vorsorgekosten gesamt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29800" y="3008376"/>
            <a:ext cx="15727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50" b="1">
                <a:solidFill>
                  <a:srgbClr val="FACC15"/>
                </a:solidFill>
                <a:latin typeface="Aptos"/>
              </a:defRPr>
            </a:pPr>
            <a:r>
              <a:t>ca. 382–700 € monatlich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6291072"/>
            <a:ext cx="2423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C9D4E5"/>
                </a:solidFill>
                <a:latin typeface="Aptos"/>
              </a:defRPr>
            </a:pPr>
            <a:r>
              <a:t>UAOS / AE Platform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consistent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20040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ptos"/>
              </a:defRPr>
            </a:pPr>
            <a:r>
              <a:t>09  Gesamte monatliche Kostenbasis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9052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F8FAFC"/>
                </a:solidFill>
                <a:latin typeface="Aptos"/>
              </a:defRPr>
            </a:pPr>
            <a:r>
              <a:t>Kostenbasis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10835640" cy="438912"/>
          </a:xfrm>
          <a:prstGeom prst="roundRect">
            <a:avLst/>
          </a:prstGeom>
          <a:solidFill>
            <a:srgbClr val="182338"/>
          </a:solidFill>
          <a:ln w="635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581912"/>
            <a:ext cx="8961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F8FAFC"/>
                </a:solidFill>
                <a:latin typeface="Aptos"/>
              </a:defRPr>
            </a:pPr>
            <a:r>
              <a:t>Operative feste Systemkosten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29800" y="1581912"/>
            <a:ext cx="15727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50" b="1">
                <a:solidFill>
                  <a:srgbClr val="FACC15"/>
                </a:solidFill>
                <a:latin typeface="Aptos"/>
              </a:defRPr>
            </a:pPr>
            <a:r>
              <a:t>95–320 €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984248"/>
            <a:ext cx="10835640" cy="438912"/>
          </a:xfrm>
          <a:prstGeom prst="roundRect">
            <a:avLst/>
          </a:prstGeom>
          <a:solidFill>
            <a:srgbClr val="182338"/>
          </a:solidFill>
          <a:ln w="635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057400"/>
            <a:ext cx="8961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F8FAFC"/>
                </a:solidFill>
                <a:latin typeface="Aptos"/>
              </a:defRPr>
            </a:pPr>
            <a:r>
              <a:t>Persönliche Pflicht-/Vorsorgekosten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29800" y="2057400"/>
            <a:ext cx="15727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50" b="1">
                <a:solidFill>
                  <a:srgbClr val="FACC15"/>
                </a:solidFill>
                <a:latin typeface="Aptos"/>
              </a:defRPr>
            </a:pPr>
            <a:r>
              <a:t>382–700 €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459736"/>
            <a:ext cx="10835640" cy="438912"/>
          </a:xfrm>
          <a:prstGeom prst="roundRect">
            <a:avLst/>
          </a:prstGeom>
          <a:solidFill>
            <a:srgbClr val="22304A"/>
          </a:solidFill>
          <a:ln w="635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2532888"/>
            <a:ext cx="8961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8FAFC"/>
                </a:solidFill>
                <a:latin typeface="Aptos"/>
              </a:defRPr>
            </a:pPr>
            <a:r>
              <a:t>Gesamte monatliche Kostenbasis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29800" y="2532888"/>
            <a:ext cx="157276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50" b="1">
                <a:solidFill>
                  <a:srgbClr val="FACC15"/>
                </a:solidFill>
                <a:latin typeface="Aptos"/>
              </a:defRPr>
            </a:pPr>
            <a:r>
              <a:t>477–1.020 €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6291072"/>
            <a:ext cx="2423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C9D4E5"/>
                </a:solidFill>
                <a:latin typeface="Aptos"/>
              </a:defRPr>
            </a:pPr>
            <a:r>
              <a:t>UAOS / AE Platform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consistent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20040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ptos"/>
              </a:defRPr>
            </a:pPr>
            <a:r>
              <a:t>10  Ertragserwartung und Kundenzahlen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9052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F8FAFC"/>
                </a:solidFill>
                <a:latin typeface="Aptos"/>
              </a:defRPr>
            </a:pPr>
            <a:r>
              <a:t>Konservative Kundenerwartung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10835640" cy="749808"/>
          </a:xfrm>
          <a:prstGeom prst="roundRect">
            <a:avLst/>
          </a:prstGeom>
          <a:solidFill>
            <a:srgbClr val="182338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527048"/>
            <a:ext cx="105064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ACC15"/>
                </a:solidFill>
                <a:latin typeface="Aptos"/>
              </a:defRPr>
            </a:pPr>
            <a:r>
              <a:t>Monate 1–3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801368"/>
            <a:ext cx="10506456" cy="3291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F8FAFC"/>
                </a:solidFill>
                <a:latin typeface="Aptos"/>
              </a:defRPr>
            </a:pPr>
            <a:r>
              <a:t>0 zahlende Kunden; 5–15 qualifizierte Gespräche · Projektvorstellung, Bedarfsgespräche, Testfeedback · 0 €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67712"/>
            <a:ext cx="10835640" cy="749808"/>
          </a:xfrm>
          <a:prstGeom prst="roundRect">
            <a:avLst/>
          </a:prstGeom>
          <a:solidFill>
            <a:srgbClr val="182338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2377440"/>
            <a:ext cx="105064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ACC15"/>
                </a:solidFill>
                <a:latin typeface="Aptos"/>
              </a:defRPr>
            </a:pPr>
            <a:r>
              <a:t>Monate 4–6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651760"/>
            <a:ext cx="10506456" cy="3291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F8FAFC"/>
                </a:solidFill>
                <a:latin typeface="Aptos"/>
              </a:defRPr>
            </a:pPr>
            <a:r>
              <a:t>1–3 kleine zahlende Kunden oder Testaufträge möglich · Arrangement-Beratung, Songstruktur-Planung · 0–300 € monatlich, nicht garantiert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118104"/>
            <a:ext cx="10835640" cy="749808"/>
          </a:xfrm>
          <a:prstGeom prst="roundRect">
            <a:avLst/>
          </a:prstGeom>
          <a:solidFill>
            <a:srgbClr val="182338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3227832"/>
            <a:ext cx="105064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ACC15"/>
                </a:solidFill>
                <a:latin typeface="Aptos"/>
              </a:defRPr>
            </a:pPr>
            <a:r>
              <a:t>Monate 7–9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3502152"/>
            <a:ext cx="10506456" cy="3291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F8FAFC"/>
                </a:solidFill>
                <a:latin typeface="Aptos"/>
              </a:defRPr>
            </a:pPr>
            <a:r>
              <a:t>2–5 zahlende Kunden / kleine Aufträge möglich · Produktionsunterstützung und Bibliotheksberatung · 100–600 € monatlich, nicht garantiert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968496"/>
            <a:ext cx="10835640" cy="749808"/>
          </a:xfrm>
          <a:prstGeom prst="roundRect">
            <a:avLst/>
          </a:prstGeom>
          <a:solidFill>
            <a:srgbClr val="182338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078224"/>
            <a:ext cx="105064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ACC15"/>
                </a:solidFill>
                <a:latin typeface="Aptos"/>
              </a:defRPr>
            </a:pPr>
            <a:r>
              <a:t>Monate 10–12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352544"/>
            <a:ext cx="10506456" cy="3291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F8FAFC"/>
                </a:solidFill>
                <a:latin typeface="Aptos"/>
              </a:defRPr>
            </a:pPr>
            <a:r>
              <a:t>3–8 zahlende Kunden / Aufträge möglich · Wiederholbare Dienstleistungen und Beratung · 300–1.000 € monatlich, nicht garantiert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6291072"/>
            <a:ext cx="2423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C9D4E5"/>
                </a:solidFill>
                <a:latin typeface="Aptos"/>
              </a:defRPr>
            </a:pPr>
            <a:r>
              <a:t>UAOS / AE Platform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consistent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20040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ptos"/>
              </a:defRPr>
            </a:pPr>
            <a:r>
              <a:t>11  Umsatzplanung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9052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F8FAFC"/>
                </a:solidFill>
                <a:latin typeface="Aptos"/>
              </a:defRPr>
            </a:pPr>
            <a:r>
              <a:t>Vorsichtige Einordnung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10789920" cy="841248"/>
          </a:xfrm>
          <a:prstGeom prst="roundRect">
            <a:avLst/>
          </a:prstGeom>
          <a:solidFill>
            <a:srgbClr val="182338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618488"/>
            <a:ext cx="104607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  <a:latin typeface="Aptos"/>
              </a:defRPr>
            </a:pPr>
            <a:r>
              <a:t>Erläuterung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892807"/>
            <a:ext cx="1046073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F8FAFC"/>
                </a:solidFill>
                <a:latin typeface="Aptos"/>
              </a:defRPr>
            </a:pPr>
            <a:r>
              <a:t>Zu Beginn wird von 0 € Anfangsumsatz ausgegangen. Einnahmen hängen von technischer Weiterentwicklung, Rückmeldungen aus der Zielgruppe und realistischem Marktzugang ab.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291072"/>
            <a:ext cx="2423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C9D4E5"/>
                </a:solidFill>
                <a:latin typeface="Aptos"/>
              </a:defRPr>
            </a:pPr>
            <a:r>
              <a:t>UAOS / AE Platform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consistent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20040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ptos"/>
              </a:defRPr>
            </a:pPr>
            <a:r>
              <a:t>12  Gewinnmarge und Break-even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9052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F8FAFC"/>
                </a:solidFill>
                <a:latin typeface="Aptos"/>
              </a:defRPr>
            </a:pPr>
            <a:r>
              <a:t>Deckungsbeitrag erst nach Kundengewinnung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10835640" cy="749808"/>
          </a:xfrm>
          <a:prstGeom prst="roundRect">
            <a:avLst/>
          </a:prstGeom>
          <a:solidFill>
            <a:srgbClr val="182338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527048"/>
            <a:ext cx="105064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ACC15"/>
                </a:solidFill>
                <a:latin typeface="Aptos"/>
              </a:defRPr>
            </a:pPr>
            <a:r>
              <a:t>Monate 1–3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801368"/>
            <a:ext cx="10506456" cy="3291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Aptos"/>
              </a:defRPr>
            </a:pPr>
            <a:r>
              <a:t>Umsatz 0 € · Kostenbasis 477–1.020 € · Gewinn negativ / Aufbauphase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67712"/>
            <a:ext cx="10835640" cy="749808"/>
          </a:xfrm>
          <a:prstGeom prst="roundRect">
            <a:avLst/>
          </a:prstGeom>
          <a:solidFill>
            <a:srgbClr val="182338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2377440"/>
            <a:ext cx="105064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ACC15"/>
                </a:solidFill>
                <a:latin typeface="Aptos"/>
              </a:defRPr>
            </a:pPr>
            <a:r>
              <a:t>Monate 4–6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651760"/>
            <a:ext cx="10506456" cy="3291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Aptos"/>
              </a:defRPr>
            </a:pPr>
            <a:r>
              <a:t>Umsatz 0–300 € · Kostenbasis 477–1.020 € · Teilweise Kostendeckung unwahrscheinlich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118104"/>
            <a:ext cx="10835640" cy="749808"/>
          </a:xfrm>
          <a:prstGeom prst="roundRect">
            <a:avLst/>
          </a:prstGeom>
          <a:solidFill>
            <a:srgbClr val="182338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3227832"/>
            <a:ext cx="105064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ACC15"/>
                </a:solidFill>
                <a:latin typeface="Aptos"/>
              </a:defRPr>
            </a:pPr>
            <a:r>
              <a:t>Monate 7–9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3502152"/>
            <a:ext cx="10506456" cy="3291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Aptos"/>
              </a:defRPr>
            </a:pPr>
            <a:r>
              <a:t>Umsatz 100–600 € · Kostenbasis 477–1.020 € · Teilweise Kostendeckung möglich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968496"/>
            <a:ext cx="10835640" cy="749808"/>
          </a:xfrm>
          <a:prstGeom prst="roundRect">
            <a:avLst/>
          </a:prstGeom>
          <a:solidFill>
            <a:srgbClr val="182338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078224"/>
            <a:ext cx="1050645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ACC15"/>
                </a:solidFill>
                <a:latin typeface="Aptos"/>
              </a:defRPr>
            </a:pPr>
            <a:r>
              <a:t>Monate 10–12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352544"/>
            <a:ext cx="10506456" cy="3291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F8FAFC"/>
                </a:solidFill>
                <a:latin typeface="Aptos"/>
              </a:defRPr>
            </a:pPr>
            <a:r>
              <a:t>Umsatz 300–1.000 € · Kostenbasis 477–1.020 € · Break-even in einzelnen Monaten möglich, nicht garantiert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6291072"/>
            <a:ext cx="2423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C9D4E5"/>
                </a:solidFill>
                <a:latin typeface="Aptos"/>
              </a:defRPr>
            </a:pPr>
            <a:r>
              <a:t>UAOS / AE Platform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consistent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20040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ptos"/>
              </a:defRPr>
            </a:pPr>
            <a:r>
              <a:t>13  Kleinunternehmerregelung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9052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F8FAFC"/>
                </a:solidFill>
                <a:latin typeface="Aptos"/>
              </a:defRPr>
            </a:pPr>
            <a:r>
              <a:t>Steuerliche Einordnung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10789920" cy="1078992"/>
          </a:xfrm>
          <a:prstGeom prst="roundRect">
            <a:avLst/>
          </a:prstGeom>
          <a:solidFill>
            <a:srgbClr val="182338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618488"/>
            <a:ext cx="104607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  <a:latin typeface="Aptos"/>
              </a:defRPr>
            </a:pPr>
            <a:r>
              <a:t>Erläuterung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892807"/>
            <a:ext cx="1046073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F8FAFC"/>
                </a:solidFill>
                <a:latin typeface="Aptos"/>
              </a:defRPr>
            </a:pPr>
            <a:r>
              <a:t>Die Kleinunternehmerregelung nach § 19 UStG soll geprüft werden. Die endgültige steuerliche Einordnung erfolgt über den Fragebogen zur steuerlichen Erfassung und gegebenenfalls steuerliche Beratung.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291072"/>
            <a:ext cx="2423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C9D4E5"/>
                </a:solidFill>
                <a:latin typeface="Aptos"/>
              </a:defRPr>
            </a:pPr>
            <a:r>
              <a:t>UAOS / AE Platform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consistent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20040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ptos"/>
              </a:defRPr>
            </a:pPr>
            <a:r>
              <a:t>14  12-Monats-Plan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9052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F8FAFC"/>
                </a:solidFill>
                <a:latin typeface="Aptos"/>
              </a:defRPr>
            </a:pPr>
            <a:r>
              <a:t>Schrittweise Entwicklung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10789920" cy="1078992"/>
          </a:xfrm>
          <a:prstGeom prst="roundRect">
            <a:avLst/>
          </a:prstGeom>
          <a:solidFill>
            <a:srgbClr val="182338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618488"/>
            <a:ext cx="104607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  <a:latin typeface="Aptos"/>
              </a:defRPr>
            </a:pPr>
            <a:r>
              <a:t>Erläuterung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892807"/>
            <a:ext cx="1046073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F8FAFC"/>
                </a:solidFill>
                <a:latin typeface="Aptos"/>
              </a:defRPr>
            </a:pPr>
            <a:r>
              <a:t>Monate 1–3: technische Grundlage stabilisieren. Monate 4–6: Prototyp ausbauen. Monate 7–9: Testfälle, Dokumentation und Nutzerfeedback. Monate 10–12: wirtschaftliche Vorbereitung und erste realistische Verwertung.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291072"/>
            <a:ext cx="2423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C9D4E5"/>
                </a:solidFill>
                <a:latin typeface="Aptos"/>
              </a:defRPr>
            </a:pPr>
            <a:r>
              <a:t>UAOS / AE Platform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consistent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20040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ptos"/>
              </a:defRPr>
            </a:pPr>
            <a:r>
              <a:t>15  Risiken und Risikoreduzierung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9052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F8FAFC"/>
                </a:solidFill>
                <a:latin typeface="Aptos"/>
              </a:defRPr>
            </a:pPr>
            <a:r>
              <a:t>Konservative Prüfung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10789920" cy="1078992"/>
          </a:xfrm>
          <a:prstGeom prst="roundRect">
            <a:avLst/>
          </a:prstGeom>
          <a:solidFill>
            <a:srgbClr val="182338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618488"/>
            <a:ext cx="104607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  <a:latin typeface="Aptos"/>
              </a:defRPr>
            </a:pPr>
            <a:r>
              <a:t>Erläuterung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892807"/>
            <a:ext cx="1046073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F8FAFC"/>
                </a:solidFill>
                <a:latin typeface="Aptos"/>
              </a:defRPr>
            </a:pPr>
            <a:r>
              <a:t>Risiken bestehen durch technische Umsetzungsdauer, fehlende Anfangseinnahmen, fehlende Arbeitsmittel und vorsichtigen Marktzugang. Reduziert werden sie durch Prototyp, Qualitätssicherung, Eigenleistung, Projektmonitor und vorsichtige Zahlen.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291072"/>
            <a:ext cx="2423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C9D4E5"/>
                </a:solidFill>
                <a:latin typeface="Aptos"/>
              </a:defRPr>
            </a:pPr>
            <a:r>
              <a:t>UAOS / AE Platform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consistent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320040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ptos"/>
              </a:defRPr>
            </a:pPr>
            <a:r>
              <a:t>16  Fazit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9052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F8FAFC"/>
                </a:solidFill>
                <a:latin typeface="Aptos"/>
              </a:defRPr>
            </a:pPr>
            <a:r>
              <a:t>Final konsistente Unterlagen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10789920" cy="1078992"/>
          </a:xfrm>
          <a:prstGeom prst="roundRect">
            <a:avLst/>
          </a:prstGeom>
          <a:solidFill>
            <a:srgbClr val="182338"/>
          </a:solidFill>
          <a:ln w="12700">
            <a:solidFill>
              <a:srgbClr val="3443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618488"/>
            <a:ext cx="1046073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  <a:latin typeface="Aptos"/>
              </a:defRPr>
            </a:pPr>
            <a:r>
              <a:t>Erläuterung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892807"/>
            <a:ext cx="1046073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0">
                <a:solidFill>
                  <a:srgbClr val="F8FAFC"/>
                </a:solidFill>
                <a:latin typeface="Aptos"/>
              </a:defRPr>
            </a:pPr>
            <a:r>
              <a:t>Businessplan und Präsentation verwenden nun dieselbe Finanzierungsaufstellung und denselben maximalen Finanzierungsbedarf von 4.700 €. Diese beiden Dateien sollen gemeinsam verwendet werden.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291072"/>
            <a:ext cx="2423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1">
                <a:solidFill>
                  <a:srgbClr val="C9D4E5"/>
                </a:solidFill>
                <a:latin typeface="Aptos"/>
              </a:defRPr>
            </a:pPr>
            <a:r>
              <a:t>UAOS / AE Platform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9552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4DD8FF"/>
                </a:solidFill>
              </a:rPr>
              <a:t>Öffentlicher Projektmonitor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7863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C7DDED"/>
                </a:solidFill>
              </a:rPr>
              <a:t>Der aktuelle Projektstand kann ergänzend über den öffentlichen Projektmonitor eingesehen werden.</a:t>
            </a:r>
          </a:p>
        </p:txBody>
      </p:sp>
      <p:sp>
        <p:nvSpPr>
          <p:cNvPr id="4" name="Rectangle 3">
            <a:hlinkClick r:id="rId2"/>
          </p:cNvPr>
          <p:cNvSpPr/>
          <p:nvPr/>
        </p:nvSpPr>
        <p:spPr>
          <a:xfrm>
            <a:off x="548640" y="1691640"/>
            <a:ext cx="2926080" cy="566928"/>
          </a:xfrm>
          <a:prstGeom prst="rect">
            <a:avLst/>
          </a:prstGeom>
          <a:solidFill>
            <a:srgbClr val="0E7490"/>
          </a:solidFill>
          <a:ln>
            <a:solidFill>
              <a:srgbClr val="4DD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Projektmonitor öffnen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23160"/>
            <a:ext cx="8046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7DD3FC"/>
                </a:solidFill>
                <a:hlinkClick r:id="rId2"/>
              </a:rPr>
              <a:t>https://sari-raslan.github.io/universal-arranger-os/monitor/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063240"/>
            <a:ext cx="749807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AAC2D7"/>
                </a:solidFill>
              </a:rPr>
              <a:t>Maximaler Finanzierungsbedarf: 4.700 €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447288"/>
            <a:ext cx="749807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AAC2D7"/>
                </a:solidFill>
              </a:rPr>
              <a:t>Ertragserwartung, Kundenzahlen und Kostenbasis ergänzt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831336"/>
            <a:ext cx="749807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AAC2D7"/>
                </a:solidFill>
              </a:rPr>
              <a:t>Keine Umsatzgarantie · Keine Zahlungsfunktion · Kein Keyboard-Output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