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F57ACC-23D7-0C98-7F69-700EC1093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77EB9B-07D1-39F1-EA8B-797BCC75D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403424-FB3D-E907-5326-0A5B3ACE6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0B99-891F-4475-B3EA-CA2F3E5D1E9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896666-F19E-F679-D5BA-D46C94C7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9C0A1C-0CC5-4E89-1D3B-0B138B920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0D40-7B66-4EB4-A7D9-D8BB600C47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548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7316FD-6DDF-6745-C70D-D45FDEBB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297DF4-7560-C428-9C6A-19F502CAE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6ACF33-FB76-0AEF-4E8C-C12618980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0B99-891F-4475-B3EA-CA2F3E5D1E9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2E0EC5-DB67-E093-B8C8-8551D7924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A31B31-BAEE-9A06-404C-EFCF57832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0D40-7B66-4EB4-A7D9-D8BB600C47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8208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266D47-1A9A-D084-BD2C-C32D5D453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FE1E40-6FB7-D46E-B29D-3626702FF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E4DFA4-47C1-031E-0BD2-D8F4855D3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0B99-891F-4475-B3EA-CA2F3E5D1E9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AB9CA8-2BCA-31DE-0769-64C7B7A5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573924-04CB-0EA9-DCEF-2A480CF04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0D40-7B66-4EB4-A7D9-D8BB600C47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3749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61A166-74CF-9813-5BE1-345263AE7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2CF624-3EE2-4220-E59E-7F7C2AB80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6C2FF7-4852-414B-B5D9-2468400C9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AB3493-42F4-F45D-DC13-AC9EEE4E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0B99-891F-4475-B3EA-CA2F3E5D1E9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531368-80F7-2E2F-9CF7-D3ECE0A1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62AD22-25D0-A8AA-5DD2-9B008FE1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0D40-7B66-4EB4-A7D9-D8BB600C47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470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BD45B6-9FEF-3CD7-D826-616BFDF5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79687B-D066-8AE0-0F7E-B8787DC2D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6DE8025-6714-40A0-8113-900CCC5B4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BA7ED5-9669-E29E-789A-658B9D741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6CF4AB2-A836-82CE-C686-8CD6F7C1E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DD4A7D7-847D-17F2-8E7C-6E2DD879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0B99-891F-4475-B3EA-CA2F3E5D1E9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2B672CE-295C-3E8D-4253-7EA5673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4C2622F-DD92-220D-2C19-51E5F37DE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0D40-7B66-4EB4-A7D9-D8BB600C47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814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120BFE-724C-8F1F-9900-094A96C5D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3CB53D4-F09A-B3EE-C3A3-30FA72D96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0B99-891F-4475-B3EA-CA2F3E5D1E9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DCB543-38FF-2552-3B3C-D312162B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575558-F8DC-3ADD-5A5E-E098C797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0D40-7B66-4EB4-A7D9-D8BB600C47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8450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2CB4EE8-17A9-AB43-4B07-02EFDBB2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0B99-891F-4475-B3EA-CA2F3E5D1E9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60EB28A-A735-0D59-A9EB-25FA6CAC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9D3731-CCD6-FE23-BA63-C594197EC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0D40-7B66-4EB4-A7D9-D8BB600C47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68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E84CB-E9F6-55DD-8724-332A472C7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DECCDC-8FF0-651E-7A7E-CB48D9143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E8F8B96-7774-2DC8-FC6A-DC9ABB9BF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AC3C82-15C3-48C1-9F75-406E3A28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0B99-891F-4475-B3EA-CA2F3E5D1E9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8F7C4E-8BE7-8022-5174-5FE81C0E3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FB3C38-2EE6-0F35-4864-493EFAC4C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0D40-7B66-4EB4-A7D9-D8BB600C47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254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4E458E-E619-F920-DC24-3C250146A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92E5015-38A5-515B-85A3-EB78BA99E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DE47B9-0090-D082-537E-9A6C1BC05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8B7262-AA4A-4F6E-E03C-EFA752B5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0B99-891F-4475-B3EA-CA2F3E5D1E9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EEEB4F-D92F-E70B-AEDE-9E9F7C04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AA87CBC-0674-5F2E-A50C-0F8C3795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0D40-7B66-4EB4-A7D9-D8BB600C47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8918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B3A11A-3E47-1B6B-8E23-F7242655E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2DE257-E5C9-1411-E767-218637E46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EF6203-B40E-7713-3015-EC0D8B5B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0B99-891F-4475-B3EA-CA2F3E5D1E9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CC4859-833E-42B3-B9D1-9A0BB88DA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13E11-FE8E-B2EC-AC0D-C65007213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0D40-7B66-4EB4-A7D9-D8BB600C47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074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C9CCB72-06A8-0A2C-73AD-31C3B154D7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FED992-AC4C-58F1-50A8-AC110526D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B819AD-496F-7E45-A65A-783CAE3EB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0B99-891F-4475-B3EA-CA2F3E5D1E9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B481DB-2AB5-57FD-2C30-533C40F0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71FB0B-6FAB-DD4F-77B2-840417FC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E0D40-7B66-4EB4-A7D9-D8BB600C47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059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BD50823-8518-0F26-EA5A-A76846EF1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937A53-5BCE-905D-3E60-793BF9245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C4111A-F0F1-4AD5-9812-36E5C3EAA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C0B99-891F-4475-B3EA-CA2F3E5D1E9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9FF2DA-1402-D9F6-FD7C-18CD21902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A4AF63-C2F0-8C11-27BF-D18C2CAA0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E0D40-7B66-4EB4-A7D9-D8BB600C47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6007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B4790A4-D98B-B92A-4DFA-C6A76EE04F68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841DE6D-D4C2-50ED-CB4F-82C075B20F27}"/>
              </a:ext>
            </a:extLst>
          </p:cNvPr>
          <p:cNvSpPr/>
          <p:nvPr/>
        </p:nvSpPr>
        <p:spPr>
          <a:xfrm>
            <a:off x="0" y="2286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E8862FA-80A9-BBC9-41E2-82526AC23062}"/>
              </a:ext>
            </a:extLst>
          </p:cNvPr>
          <p:cNvSpPr txBox="1"/>
          <p:nvPr/>
        </p:nvSpPr>
        <p:spPr>
          <a:xfrm>
            <a:off x="558800" y="533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UAOS Finanz-Businessplan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446B963-3F49-5D6E-40C7-0F63A0525607}"/>
              </a:ext>
            </a:extLst>
          </p:cNvPr>
          <p:cNvSpPr txBox="1"/>
          <p:nvPr/>
        </p:nvSpPr>
        <p:spPr>
          <a:xfrm>
            <a:off x="914400" y="1600200"/>
            <a:ext cx="10363200" cy="1036181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Jobcenter-Unterlage vom 01.07.2026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Antragsteller: Sarey Raslan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Projektentwicklungsphase mit konservativer Finanzplanung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D2AFC0B-54C6-14AF-C5E1-83A0D0E59792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203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F535536-4813-DC7A-09F3-92AEEA7DB629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189B180-F84B-6324-394A-0B20D9E7C833}"/>
              </a:ext>
            </a:extLst>
          </p:cNvPr>
          <p:cNvSpPr/>
          <p:nvPr/>
        </p:nvSpPr>
        <p:spPr>
          <a:xfrm>
            <a:off x="0" y="2286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A862759-0952-8530-2623-094EDAC214F9}"/>
              </a:ext>
            </a:extLst>
          </p:cNvPr>
          <p:cNvSpPr txBox="1"/>
          <p:nvPr/>
        </p:nvSpPr>
        <p:spPr>
          <a:xfrm>
            <a:off x="558800" y="533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Projekt und Status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3EEF004-3F51-5DD8-6D93-322380392436}"/>
              </a:ext>
            </a:extLst>
          </p:cNvPr>
          <p:cNvSpPr txBox="1"/>
          <p:nvPr/>
        </p:nvSpPr>
        <p:spPr>
          <a:xfrm>
            <a:off x="914400" y="1600200"/>
            <a:ext cx="10363200" cy="1313180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UAOS / Universal Arranger OS / AE Platform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Anfangsumsatz: 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Kein garantiertes Einkommen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Keine öffentliche Produktfreigabe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695485D-2822-B004-CA5F-9E600B5F4271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44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0CA91E0-85BD-3597-EDC0-F013EFD6014B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53B8C7F-D703-20E8-DEFD-1C74F9FF44E4}"/>
              </a:ext>
            </a:extLst>
          </p:cNvPr>
          <p:cNvSpPr/>
          <p:nvPr/>
        </p:nvSpPr>
        <p:spPr>
          <a:xfrm>
            <a:off x="0" y="2286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19E1C55-E218-0082-B212-3611E4FB8C52}"/>
              </a:ext>
            </a:extLst>
          </p:cNvPr>
          <p:cNvSpPr txBox="1"/>
          <p:nvPr/>
        </p:nvSpPr>
        <p:spPr>
          <a:xfrm>
            <a:off x="558800" y="533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Live Monitor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DF8303C-A0A9-8988-06F1-524E5974BF82}"/>
              </a:ext>
            </a:extLst>
          </p:cNvPr>
          <p:cNvSpPr txBox="1"/>
          <p:nvPr/>
        </p:nvSpPr>
        <p:spPr>
          <a:xfrm>
            <a:off x="914400" y="1600200"/>
            <a:ext cx="10363200" cy="1036181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Öffentlicher Statusnachweis: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https://sari-raslan.github.io/universal-arranger-os/monitor/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Monitor zeigt Statuszahlen, Abschnittskarten, owner-neutral-003 und blockierte Bereiche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B9DB5A0-4F7F-984F-6900-19B906D486CD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95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E1AE09D-55CB-2CA6-19DF-45B48F947B2C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704B862-4AE2-1148-E216-0A482E9C0996}"/>
              </a:ext>
            </a:extLst>
          </p:cNvPr>
          <p:cNvSpPr/>
          <p:nvPr/>
        </p:nvSpPr>
        <p:spPr>
          <a:xfrm>
            <a:off x="0" y="2286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913056D-2A9E-FE26-65EF-881BBBAA13E2}"/>
              </a:ext>
            </a:extLst>
          </p:cNvPr>
          <p:cNvSpPr txBox="1"/>
          <p:nvPr/>
        </p:nvSpPr>
        <p:spPr>
          <a:xfrm>
            <a:off x="558800" y="533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Startup-Budget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F33649D-C22D-1CC9-62B6-FDF3762ADE73}"/>
              </a:ext>
            </a:extLst>
          </p:cNvPr>
          <p:cNvSpPr txBox="1"/>
          <p:nvPr/>
        </p:nvSpPr>
        <p:spPr>
          <a:xfrm>
            <a:off x="914400" y="1600200"/>
            <a:ext cx="10363200" cy="1867178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Laptop/Workstation: 1.500–2.500 €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Externer Monitor: 150–300 €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Tastatur/Maus/Speicher/Zubehör: 150–300 €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Software/Dev-Tools: 300–600 €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Dokumentation/Admin: 100–250 €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Gesamt: 2.200–3.950 €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BE2E7E7-6849-E30A-4255-5FF59290D989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822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C67123D-9DAE-3263-7D32-A58CEA67D908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E3FCB97-1A06-3438-07CA-23AFE82AA772}"/>
              </a:ext>
            </a:extLst>
          </p:cNvPr>
          <p:cNvSpPr/>
          <p:nvPr/>
        </p:nvSpPr>
        <p:spPr>
          <a:xfrm>
            <a:off x="0" y="2286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7A918A1-C6F3-5965-D723-B28A3E09B690}"/>
              </a:ext>
            </a:extLst>
          </p:cNvPr>
          <p:cNvSpPr txBox="1"/>
          <p:nvPr/>
        </p:nvSpPr>
        <p:spPr>
          <a:xfrm>
            <a:off x="558800" y="533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Monatlicher Kostenplan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96E7C89-9899-2E28-4826-D12F7B32CAE0}"/>
              </a:ext>
            </a:extLst>
          </p:cNvPr>
          <p:cNvSpPr txBox="1"/>
          <p:nvPr/>
        </p:nvSpPr>
        <p:spPr>
          <a:xfrm>
            <a:off x="914400" y="1600200"/>
            <a:ext cx="10363200" cy="1590179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Software/Services: 30–80 €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Internet/Stromanteil: 20–50 €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Backup/Speicher: 5–20 €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Buchhaltung/Admin: 20–60 €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Gesamt monatlich: 75–210 €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D4E6A6D-7041-0261-998D-63CD61CB82E2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034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A006DAC-B1F8-EFC3-0CA0-013E8BE21A6F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8D77852-1D84-A8B7-7525-12B2F69F2A82}"/>
              </a:ext>
            </a:extLst>
          </p:cNvPr>
          <p:cNvSpPr/>
          <p:nvPr/>
        </p:nvSpPr>
        <p:spPr>
          <a:xfrm>
            <a:off x="0" y="2286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567D1D5-4FF8-FA62-10D3-E9E62F49E123}"/>
              </a:ext>
            </a:extLst>
          </p:cNvPr>
          <p:cNvSpPr txBox="1"/>
          <p:nvPr/>
        </p:nvSpPr>
        <p:spPr>
          <a:xfrm>
            <a:off x="558800" y="533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12-Monats-Roadmap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AF0D979-ACDA-8AE0-B1F8-AF5A88AA1F1A}"/>
              </a:ext>
            </a:extLst>
          </p:cNvPr>
          <p:cNvSpPr txBox="1"/>
          <p:nvPr/>
        </p:nvSpPr>
        <p:spPr>
          <a:xfrm>
            <a:off x="914400" y="1600200"/>
            <a:ext cx="10363200" cy="1313180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Q1: Hardware, stabile lokale Entwicklung und Evidence-Aufbau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Q2: UI/Tooling, Live Monitor und Dokumentation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Q3: Library Factory, Oriental Strings Planung und Pilot-Demos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Q4: Validierung und sichere Produktrichtung ohne Produktionsfreigabe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A3B131-134F-AF82-84EE-7F0132BE53C2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239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41999C8-1153-4627-14D0-02BD547FD4C0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176DAD2-3E64-AAF7-1616-31614AAE869D}"/>
              </a:ext>
            </a:extLst>
          </p:cNvPr>
          <p:cNvSpPr/>
          <p:nvPr/>
        </p:nvSpPr>
        <p:spPr>
          <a:xfrm>
            <a:off x="0" y="2286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9197005-E32D-D218-0660-0EFFC70149F7}"/>
              </a:ext>
            </a:extLst>
          </p:cNvPr>
          <p:cNvSpPr txBox="1"/>
          <p:nvPr/>
        </p:nvSpPr>
        <p:spPr>
          <a:xfrm>
            <a:off x="558800" y="533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Eigenleistung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CD9E2B9-1FC8-B09A-8F6D-23D7C5BB711E}"/>
              </a:ext>
            </a:extLst>
          </p:cNvPr>
          <p:cNvSpPr txBox="1"/>
          <p:nvPr/>
        </p:nvSpPr>
        <p:spPr>
          <a:xfrm>
            <a:off x="914400" y="1600200"/>
            <a:ext cx="10363200" cy="1313180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450–750 Stunden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Interne Bewertung: 25–45 €/Stunde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Wertkorridor: 11.250–33.750 €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Keine Rechnung und keine Einkommensgarantie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FDD6EAD-2BA3-CC49-E765-7AE35CA26085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89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9F95C47-D79B-C4E3-8BA6-2380469C5F1D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5BBF311-8EB5-DD04-5D0B-1947FB431636}"/>
              </a:ext>
            </a:extLst>
          </p:cNvPr>
          <p:cNvSpPr/>
          <p:nvPr/>
        </p:nvSpPr>
        <p:spPr>
          <a:xfrm>
            <a:off x="0" y="2286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EA48B2-DD7C-03CB-4ED7-079E08F5228A}"/>
              </a:ext>
            </a:extLst>
          </p:cNvPr>
          <p:cNvSpPr txBox="1"/>
          <p:nvPr/>
        </p:nvSpPr>
        <p:spPr>
          <a:xfrm>
            <a:off x="558800" y="533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Risiken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1BF2F3B-B3E0-38AB-4662-144DD829B5B8}"/>
              </a:ext>
            </a:extLst>
          </p:cNvPr>
          <p:cNvSpPr txBox="1"/>
          <p:nvPr/>
        </p:nvSpPr>
        <p:spPr>
          <a:xfrm>
            <a:off x="914400" y="1600200"/>
            <a:ext cx="10363200" cy="1313180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Keine garantierten Einnahmen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Technische Validierung offen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Pilot- oder Serviceeinnahmen nur unverbindliche Möglichkeit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Kosten und Fortschritt müssen regelmäßig geprüft werden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FC4C86A-275A-9EEE-E286-9CC0BDC2B0D6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083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1406038-76C9-2AAD-D42C-B463C80058AA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6FC5A0D-BABB-ECD6-E9F6-F75E7AACE210}"/>
              </a:ext>
            </a:extLst>
          </p:cNvPr>
          <p:cNvSpPr/>
          <p:nvPr/>
        </p:nvSpPr>
        <p:spPr>
          <a:xfrm>
            <a:off x="0" y="2286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1B25A8B-10C1-FB08-73EF-7B510A082E0D}"/>
              </a:ext>
            </a:extLst>
          </p:cNvPr>
          <p:cNvSpPr txBox="1"/>
          <p:nvPr/>
        </p:nvSpPr>
        <p:spPr>
          <a:xfrm>
            <a:off x="558800" y="533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Arbeitsmittel-Antrag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EDE120D-BFAE-1332-C076-4EDC8AB6E2B1}"/>
              </a:ext>
            </a:extLst>
          </p:cNvPr>
          <p:cNvSpPr txBox="1"/>
          <p:nvPr/>
        </p:nvSpPr>
        <p:spPr>
          <a:xfrm>
            <a:off x="914400" y="1600200"/>
            <a:ext cx="10363200" cy="1036181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Prüfung einer Unterstützung im Rahmen von 2.200–3.950 €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Ziel: stabile lokale Entwicklung, Dokumentation, QA und Präsentation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Fokus auf Laptop/Workstation und notwendige Basisarbeitsmittel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FCD7E1A-9BC3-ECEE-4F58-E1F3D652366C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776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20579C4-38FD-6AC7-6AA4-BB06301C61D1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9F88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3845913-2EE3-33D4-5F22-920487DD498D}"/>
              </a:ext>
            </a:extLst>
          </p:cNvPr>
          <p:cNvSpPr/>
          <p:nvPr/>
        </p:nvSpPr>
        <p:spPr>
          <a:xfrm>
            <a:off x="0" y="228600"/>
            <a:ext cx="12192000" cy="63500"/>
          </a:xfrm>
          <a:prstGeom prst="rect">
            <a:avLst/>
          </a:prstGeom>
          <a:solidFill>
            <a:srgbClr val="736B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176E82D-EF3E-D6B0-F46A-5964C44E5B95}"/>
              </a:ext>
            </a:extLst>
          </p:cNvPr>
          <p:cNvSpPr txBox="1"/>
          <p:nvPr/>
        </p:nvSpPr>
        <p:spPr>
          <a:xfrm>
            <a:off x="558800" y="5334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>
                <a:solidFill>
                  <a:srgbClr val="16FB1E"/>
                </a:solidFill>
                <a:latin typeface="Arial" panose="020B0604020202020204" pitchFamily="34" charset="0"/>
              </a:rPr>
              <a:t>Klare Grenzen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AFF1DB8-DCFE-9AAF-7D51-8503E717E8EB}"/>
              </a:ext>
            </a:extLst>
          </p:cNvPr>
          <p:cNvSpPr txBox="1"/>
          <p:nvPr/>
        </p:nvSpPr>
        <p:spPr>
          <a:xfrm>
            <a:off x="914400" y="1600200"/>
            <a:ext cx="10363200" cy="1590179"/>
          </a:xfrm>
          <a:prstGeom prst="rect">
            <a:avLst/>
          </a:prstGeom>
          <a:noFill/>
        </p:spPr>
        <p:txBody>
          <a:bodyPr vert="horz" lIns="101600" tIns="101600" rIns="101600" bIns="101600" rtlCol="0">
            <a:spAutoFit/>
          </a:bodyPr>
          <a:lstStyle/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Payment: nein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Keyboard-Ausgabe: nein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Keyboard-Transfer: nein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Keine Produktionsfreigabe</a:t>
            </a:r>
          </a:p>
          <a:p>
            <a:r>
              <a:rPr lang="de-DE">
                <a:solidFill>
                  <a:srgbClr val="333333"/>
                </a:solidFill>
                <a:latin typeface="Arial" panose="020B0604020202020204" pitchFamily="34" charset="0"/>
              </a:rPr>
              <a:t>• Jobcenter-only Finanzunterlage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8B1B413-B261-79F9-D2F7-4A852A436D8E}"/>
              </a:ext>
            </a:extLst>
          </p:cNvPr>
          <p:cNvSpPr txBox="1"/>
          <p:nvPr/>
        </p:nvSpPr>
        <p:spPr>
          <a:xfrm>
            <a:off x="558800" y="6426200"/>
            <a:ext cx="1092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737373"/>
                </a:solidFill>
                <a:latin typeface="Arial" panose="020B0604020202020204" pitchFamily="34" charset="0"/>
              </a:rPr>
              <a:t>JOBCENTER ONLY - NO PAYMENT - NO KEYBOARD OUTPUT/TRANSFER - NO INCOME GUARANTEE</a:t>
            </a:r>
            <a:endParaRPr lang="de-DE" sz="900">
              <a:solidFill>
                <a:srgbClr val="7373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799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Microsoft Office PowerPoint</Application>
  <PresentationFormat>Benutzerdefiniert</PresentationFormat>
  <Paragraphs>61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 m</dc:creator>
  <cp:lastModifiedBy>sari m</cp:lastModifiedBy>
  <cp:revision>1</cp:revision>
  <dcterms:created xsi:type="dcterms:W3CDTF">2026-07-01T11:00:05Z</dcterms:created>
  <dcterms:modified xsi:type="dcterms:W3CDTF">2026-07-01T11:00:05Z</dcterms:modified>
</cp:coreProperties>
</file>