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01  Deckblatt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8FAFC"/>
                </a:solidFill>
                <a:latin typeface="Aptos"/>
              </a:defRPr>
            </a:pPr>
            <a:r>
              <a:t>UAOS / AE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9D4E5"/>
                </a:solidFill>
                <a:latin typeface="Aptos"/>
              </a:defRPr>
            </a:pPr>
            <a:r>
              <a:t>Businessplan und Projektübersicht zur Vorbereitung der Selbstständigkeit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12848"/>
            <a:ext cx="6309360" cy="80467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322576"/>
            <a:ext cx="59801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Finanzierung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96896"/>
            <a:ext cx="5980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Der maximale Finanzierungsbedarf wird mit 4.700 € angesetzt. Die tatsächlichen Anschaffungen können nach Angebot, Verfügbarkeit und Abstimmung mit dem Jobcenter angepasst werden.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ptos"/>
              </a:defRPr>
            </a:pPr>
            <a:r>
              <a:t>https://uaos-jobcenter-monitor.vercel.app/jobcenter/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417320"/>
            <a:ext cx="1737360" cy="960120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79792" y="1527048"/>
            <a:ext cx="14081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Gesamt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9792" y="1801368"/>
            <a:ext cx="1408176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4.700 €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417320"/>
            <a:ext cx="1737360" cy="960120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91472" y="1527048"/>
            <a:ext cx="14081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Phase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91472" y="1801368"/>
            <a:ext cx="1408176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Gründungsphase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743200"/>
            <a:ext cx="1737360" cy="960120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9792" y="2852928"/>
            <a:ext cx="14081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Ertrag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3127248"/>
            <a:ext cx="1408176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konservativ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2743200"/>
            <a:ext cx="1737360" cy="960120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91472" y="2852928"/>
            <a:ext cx="14081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1472" y="3127248"/>
            <a:ext cx="1408176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öffentlich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02  Zusammenfassung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Konsistente Finanzplanung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789920" cy="841248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18488"/>
            <a:ext cx="10460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Erläuterung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92807"/>
            <a:ext cx="104607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Diese finale Fassung vereinheitlicht Businessplan und Präsentation. In beiden Dateien steht derselbe maximale Finanzierungsbedarf von 4.700 € und dieselbe Einzelaufstellung.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96312"/>
            <a:ext cx="10789920" cy="841248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606040"/>
            <a:ext cx="10460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Erläuterung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880360"/>
            <a:ext cx="104607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Das Projekt befindet sich in der Gründungsphase. Es gibt noch keine Umsatzgarantie; die Planung bleibt konservativ und unverbindlich.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03  Einfache Erklärung des Projekts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Verständliche Einordnung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81912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Arrangement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1581912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Musikalische Struktur eines Songs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84248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057400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MIDI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2057400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Digitale Noten- und Steuerinformation, kein Audio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59736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532888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Bibliothek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2532888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Geordnete Sammlung von Klang- und Instrumenteninformationen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35224"/>
            <a:ext cx="10835640" cy="438912"/>
          </a:xfrm>
          <a:prstGeom prst="roundRect">
            <a:avLst/>
          </a:prstGeom>
          <a:solidFill>
            <a:srgbClr val="22304A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008376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Aptos"/>
              </a:defRPr>
            </a:pPr>
            <a:r>
              <a:t>Projektmonitor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3008376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Öffentliche Statusseite zur Nachvollziehbarkeit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04  Zielgruppen und Kundensegmente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Kundenbasis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789920" cy="107899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18488"/>
            <a:ext cx="10460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Erläuterung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92807"/>
            <a:ext cx="104607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Zielgruppen sind Sängerinnen und Sänger, Musiker und Heimstudio-Nutzer, semiprofessionelle Produzenten, professionelle Arrangeure und Musikproduzenten sowie Musiker im orientalischen und arabischen Musikbereich.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05  Kundengewinnung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Marktzugang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789920" cy="107899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18488"/>
            <a:ext cx="10460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Erläuterung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92807"/>
            <a:ext cx="104607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Kunden sollen das Angebot über Musikmessen, Fachveranstaltungen, Konzerte, Flyer, Direktkontakte, Musiker-Communities, persönliche Netzwerke und den öffentlichen Projektmonitor kennenlernen. Präsentation und Monitor werden als Nachweis des Projektstands genutzt.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06  Finanzierungsbedarf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Maximaler Finanzierungsbedarf 4.700 €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35640" cy="356616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81912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Laptop / Workstation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1581912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2.400 €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01952"/>
            <a:ext cx="10835640" cy="356616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75104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Externer 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1975104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350 €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95144"/>
            <a:ext cx="10835640" cy="356616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368296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Tastatur / Maus / Speicher / Zubehör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2368296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350 €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688336"/>
            <a:ext cx="10835640" cy="356616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761488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Software- / Entwicklungsreserve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2761488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750 €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081528"/>
            <a:ext cx="10835640" cy="356616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154680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Backup / Datensicherung / Cloud-Reserve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3154680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250 €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74720"/>
            <a:ext cx="10835640" cy="356616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547872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Dokumentation / Präsentation / Verwaltung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3547872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250 €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867912"/>
            <a:ext cx="10835640" cy="356616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41064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9" b="0">
                <a:solidFill>
                  <a:srgbClr val="F8FAFC"/>
                </a:solidFill>
                <a:latin typeface="Aptos"/>
              </a:defRPr>
            </a:pPr>
            <a:r>
              <a:t>Werbematerial / Flyer / einfache Öffentlichkeitsarbeit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3941064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250 €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261104"/>
            <a:ext cx="10835640" cy="356616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4334256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9" b="0">
                <a:solidFill>
                  <a:srgbClr val="F8FAFC"/>
                </a:solidFill>
                <a:latin typeface="Aptos"/>
              </a:defRPr>
            </a:pPr>
            <a:r>
              <a:t>Reserve für unvorhergesehene technische Kosten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4334256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100 €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654296"/>
            <a:ext cx="10835640" cy="356616"/>
          </a:xfrm>
          <a:prstGeom prst="roundRect">
            <a:avLst/>
          </a:prstGeom>
          <a:solidFill>
            <a:srgbClr val="22304A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4727448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Aptos"/>
              </a:defRPr>
            </a:pPr>
            <a:r>
              <a:t>Gesamt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4727448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4.700 €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07  Operative feste monatliche Kosten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Systemkosten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81912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Software / Dienste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1581912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30–80 €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84248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057400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Internet / Stromanteil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2057400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20–50 €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59736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532888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Backup / Speicher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2532888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5–20 €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35224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008376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Buchhaltung / Verwaltung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3008376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20–60 €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10712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483864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Werbung / Flyer / Kontaktmaterial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3483864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20–80 €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86200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959352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Website / Monitor / Online-Nachweis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3959352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0–30 €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361688"/>
            <a:ext cx="10835640" cy="438912"/>
          </a:xfrm>
          <a:prstGeom prst="roundRect">
            <a:avLst/>
          </a:prstGeom>
          <a:solidFill>
            <a:srgbClr val="22304A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434840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Aptos"/>
              </a:defRPr>
            </a:pPr>
            <a:r>
              <a:t>Operative feste Kosten gesamt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4434840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95–320 € monatlich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08  Persönliche Pflicht- und Vorsorgekosten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Vorsorge und Rücklagen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81912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Krankenversicherung / Pflegeversicherung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1581912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ca. 270–350 €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84248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057400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Rentenbeitrag / Altersvorsorge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2057400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ca. 112–200 €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59736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532888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Steuer-Rücklage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2532888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0–150 €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35224"/>
            <a:ext cx="10835640" cy="438912"/>
          </a:xfrm>
          <a:prstGeom prst="roundRect">
            <a:avLst/>
          </a:prstGeom>
          <a:solidFill>
            <a:srgbClr val="22304A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008376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Aptos"/>
              </a:defRPr>
            </a:pPr>
            <a:r>
              <a:t>Persönliche Pflicht-/Vorsorgekosten gesamt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3008376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ca. 382–700 € monatlich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09  Gesamte monatliche Kostenbasis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Kostenbasis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81912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Operative feste Systemkosten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1581912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95–320 €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84248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057400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Persönliche Pflicht-/Vorsorgekosten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2057400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382–700 €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59736"/>
            <a:ext cx="10835640" cy="438912"/>
          </a:xfrm>
          <a:prstGeom prst="roundRect">
            <a:avLst/>
          </a:prstGeom>
          <a:solidFill>
            <a:srgbClr val="22304A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532888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Aptos"/>
              </a:defRPr>
            </a:pPr>
            <a:r>
              <a:t>Gesamte monatliche Kostenbasis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2532888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477–1.020 €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10  Ertragserwartung und Kundenzahlen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Konservative Kundenerwartung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749808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27048"/>
            <a:ext cx="10506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Monate 1–3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01368"/>
            <a:ext cx="10506456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0 zahlende Kunden; 5–15 qualifizierte Gespräche · Projektvorstellung, Bedarfsgespräche, Testfeedback · 0 €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835640" cy="749808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377440"/>
            <a:ext cx="10506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Monate 4–6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651760"/>
            <a:ext cx="10506456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1–3 kleine zahlende Kunden oder Testaufträge möglich · Arrangement-Beratung, Songstruktur-Planung · 0–300 € monatlich, nicht garantiert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18104"/>
            <a:ext cx="10835640" cy="749808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227832"/>
            <a:ext cx="10506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Monate 7–9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502152"/>
            <a:ext cx="10506456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2–5 zahlende Kunden / kleine Aufträge möglich · Produktionsunterstützung und Bibliotheksberatung · 100–600 € monatlich, nicht garantiert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68496"/>
            <a:ext cx="10835640" cy="749808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078224"/>
            <a:ext cx="10506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Monate 10–12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352544"/>
            <a:ext cx="10506456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3–8 zahlende Kunden / Aufträge möglich · Wiederholbare Dienstleistungen und Beratung · 300–1.000 € monatlich, nicht garantiert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11  Umsatzplanung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Vorsichtige Einordnung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789920" cy="841248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18488"/>
            <a:ext cx="10460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Erläuterung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92807"/>
            <a:ext cx="104607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Zu Beginn wird von 0 € Anfangsumsatz ausgegangen. Einnahmen hängen von technischer Weiterentwicklung, Rückmeldungen aus der Zielgruppe und realistischem Marktzugang ab.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12  Gewinnmarge und 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Deckungsbeitrag erst nach Kundengewinnung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749808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27048"/>
            <a:ext cx="10506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Monate 1–3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01368"/>
            <a:ext cx="10506456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Umsatz 0 € · Kostenbasis 477–1.020 € · Gewinn negativ / Aufbauphase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835640" cy="749808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377440"/>
            <a:ext cx="10506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Monate 4–6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651760"/>
            <a:ext cx="10506456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Umsatz 0–300 € · Kostenbasis 477–1.020 € · Teilweise Kostendeckung unwahrscheinlich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18104"/>
            <a:ext cx="10835640" cy="749808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227832"/>
            <a:ext cx="10506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Monate 7–9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502152"/>
            <a:ext cx="10506456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Umsatz 100–600 € · Kostenbasis 477–1.020 € · Teilweise Kostendeckung möglich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68496"/>
            <a:ext cx="10835640" cy="749808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078224"/>
            <a:ext cx="10506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Monate 10–12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352544"/>
            <a:ext cx="10506456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Umsatz 300–1.000 € · Kostenbasis 477–1.020 € · Break-even in einzelnen Monaten möglich, nicht garantiert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13  Kleinunternehmerregelung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Steuerliche Einordnung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789920" cy="107899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18488"/>
            <a:ext cx="10460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Erläuterung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92807"/>
            <a:ext cx="104607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Die Kleinunternehmerregelung nach § 19 UStG soll geprüft werden. Die endgültige steuerliche Einordnung erfolgt über den Fragebogen zur steuerlichen Erfassung und gegebenenfalls steuerliche Beratung.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14  12-Monats-Plan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Schrittweise Entwicklung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789920" cy="107899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18488"/>
            <a:ext cx="10460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Erläuterung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92807"/>
            <a:ext cx="104607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Monate 1–3: technische Grundlage stabilisieren. Monate 4–6: Prototyp ausbauen. Monate 7–9: Testfälle, Dokumentation und Nutzerfeedback. Monate 10–12: wirtschaftliche Vorbereitung und erste realistische Verwertung.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15  Risiken und Risikoreduzierung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Konservative Prüfung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789920" cy="107899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18488"/>
            <a:ext cx="10460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Erläuterung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92807"/>
            <a:ext cx="104607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Risiken bestehen durch technische Umsetzungsdauer, fehlende Anfangseinnahmen, fehlende Arbeitsmittel und vorsichtigen Marktzugang. Reduziert werden sie durch Prototyp, Qualitätssicherung, Eigenleistung, Projektmonitor und vorsichtige Zahlen.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16  Fazit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Final konsistente Unterlagen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789920" cy="107899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18488"/>
            <a:ext cx="10460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Erläuterung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92807"/>
            <a:ext cx="104607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Businessplan und Präsentation verwenden nun dieselbe Finanzierungsaufstellung und denselben maximalen Finanzierungsbedarf von 4.700 €. Diese beiden Dateien sollen gemeinsam verwendet werden.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